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2" r:id="rId1"/>
  </p:sldMasterIdLst>
  <p:sldIdLst>
    <p:sldId id="256" r:id="rId2"/>
    <p:sldId id="264" r:id="rId3"/>
    <p:sldId id="266" r:id="rId4"/>
    <p:sldId id="257" r:id="rId5"/>
    <p:sldId id="267" r:id="rId6"/>
    <p:sldId id="260" r:id="rId7"/>
    <p:sldId id="262" r:id="rId8"/>
    <p:sldId id="270" r:id="rId9"/>
    <p:sldId id="268" r:id="rId10"/>
    <p:sldId id="271" r:id="rId11"/>
    <p:sldId id="272" r:id="rId12"/>
    <p:sldId id="273" r:id="rId13"/>
    <p:sldId id="269" r:id="rId14"/>
    <p:sldId id="265" r:id="rId1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23AC9E4-1065-4918-B740-9D8E4EB9DD9A}" type="datetimeFigureOut">
              <a:rPr lang="en-US" smtClean="0"/>
              <a:pPr/>
              <a:t>21/04/2025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9E999B-DEDC-4232-8507-D6F42C4B1E0A}"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3AC9E4-1065-4918-B740-9D8E4EB9DD9A}" type="datetimeFigureOut">
              <a:rPr lang="en-US" smtClean="0"/>
              <a:pPr/>
              <a:t>21/04/2025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9E999B-DEDC-4232-8507-D6F42C4B1E0A}"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23AC9E4-1065-4918-B740-9D8E4EB9DD9A}" type="datetimeFigureOut">
              <a:rPr lang="en-US" smtClean="0"/>
              <a:pPr/>
              <a:t>21/04/2025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9E999B-DEDC-4232-8507-D6F42C4B1E0A}"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23AC9E4-1065-4918-B740-9D8E4EB9DD9A}" type="datetimeFigureOut">
              <a:rPr lang="en-US" smtClean="0"/>
              <a:pPr/>
              <a:t>21/04/2025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9E999B-DEDC-4232-8507-D6F42C4B1E0A}"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23AC9E4-1065-4918-B740-9D8E4EB9DD9A}" type="datetimeFigureOut">
              <a:rPr lang="en-US" smtClean="0"/>
              <a:pPr/>
              <a:t>21/04/2025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29E999B-DEDC-4232-8507-D6F42C4B1E0A}"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23AC9E4-1065-4918-B740-9D8E4EB9DD9A}" type="datetimeFigureOut">
              <a:rPr lang="en-US" smtClean="0"/>
              <a:pPr/>
              <a:t>21/04/2025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29E999B-DEDC-4232-8507-D6F42C4B1E0A}"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23AC9E4-1065-4918-B740-9D8E4EB9DD9A}" type="datetimeFigureOut">
              <a:rPr lang="en-US" smtClean="0"/>
              <a:pPr/>
              <a:t>21/04/2025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29E999B-DEDC-4232-8507-D6F42C4B1E0A}"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23AC9E4-1065-4918-B740-9D8E4EB9DD9A}" type="datetimeFigureOut">
              <a:rPr lang="en-US" smtClean="0"/>
              <a:pPr/>
              <a:t>21/04/2025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9E999B-DEDC-4232-8507-D6F42C4B1E0A}"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23AC9E4-1065-4918-B740-9D8E4EB9DD9A}" type="datetimeFigureOut">
              <a:rPr lang="en-US" smtClean="0"/>
              <a:pPr/>
              <a:t>21/04/2025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29E999B-DEDC-4232-8507-D6F42C4B1E0A}"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3AC9E4-1065-4918-B740-9D8E4EB9DD9A}" type="datetimeFigureOut">
              <a:rPr lang="en-US" smtClean="0"/>
              <a:pPr/>
              <a:t>21/04/2025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9E999B-DEDC-4232-8507-D6F42C4B1E0A}"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23AC9E4-1065-4918-B740-9D8E4EB9DD9A}" type="datetimeFigureOut">
              <a:rPr lang="en-US" smtClean="0"/>
              <a:pPr/>
              <a:t>21/04/2025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29E999B-DEDC-4232-8507-D6F42C4B1E0A}"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23AC9E4-1065-4918-B740-9D8E4EB9DD9A}" type="datetimeFigureOut">
              <a:rPr lang="en-US" smtClean="0"/>
              <a:pPr/>
              <a:t>21/04/2025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9E999B-DEDC-4232-8507-D6F42C4B1E0A}"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853" r:id="rId1"/>
    <p:sldLayoutId id="2147483854" r:id="rId2"/>
    <p:sldLayoutId id="2147483855" r:id="rId3"/>
    <p:sldLayoutId id="2147483856" r:id="rId4"/>
    <p:sldLayoutId id="2147483857" r:id="rId5"/>
    <p:sldLayoutId id="2147483858" r:id="rId6"/>
    <p:sldLayoutId id="2147483859" r:id="rId7"/>
    <p:sldLayoutId id="2147483860" r:id="rId8"/>
    <p:sldLayoutId id="2147483861" r:id="rId9"/>
    <p:sldLayoutId id="2147483862" r:id="rId10"/>
    <p:sldLayoutId id="214748386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600200" y="609600"/>
            <a:ext cx="7315200" cy="1470025"/>
          </a:xfrm>
        </p:spPr>
        <p:txBody>
          <a:bodyPr>
            <a:normAutofit fontScale="90000"/>
          </a:bodyPr>
          <a:lstStyle/>
          <a:p>
            <a:r>
              <a:rPr lang="en-US" sz="3600" dirty="0" smtClean="0"/>
              <a:t>VISVESVARAYA TECHNOLOGICAL UNIVERSITY </a:t>
            </a:r>
            <a:r>
              <a:rPr lang="en-US" dirty="0" smtClean="0"/>
              <a:t/>
            </a:r>
            <a:br>
              <a:rPr lang="en-US" dirty="0" smtClean="0"/>
            </a:br>
            <a:endParaRPr lang="en-US" dirty="0"/>
          </a:p>
        </p:txBody>
      </p:sp>
      <p:sp>
        <p:nvSpPr>
          <p:cNvPr id="3" name="Subtitle 2"/>
          <p:cNvSpPr>
            <a:spLocks noGrp="1"/>
          </p:cNvSpPr>
          <p:nvPr>
            <p:ph type="subTitle" idx="1"/>
          </p:nvPr>
        </p:nvSpPr>
        <p:spPr>
          <a:xfrm>
            <a:off x="1447800" y="1752600"/>
            <a:ext cx="6629400" cy="4572000"/>
          </a:xfrm>
        </p:spPr>
        <p:txBody>
          <a:bodyPr>
            <a:normAutofit/>
          </a:bodyPr>
          <a:lstStyle/>
          <a:p>
            <a:pPr algn="ctr"/>
            <a:r>
              <a:rPr lang="en-US" sz="2400" dirty="0">
                <a:latin typeface="Times New Roman" pitchFamily="18" charset="0"/>
                <a:cs typeface="Times New Roman" pitchFamily="18" charset="0"/>
              </a:rPr>
              <a:t>DEPARTMENT OF C.S.E</a:t>
            </a:r>
          </a:p>
          <a:p>
            <a:pPr algn="ctr"/>
            <a:r>
              <a:rPr lang="en-US" sz="2400" b="1" dirty="0">
                <a:latin typeface="Times New Roman" pitchFamily="18" charset="0"/>
                <a:cs typeface="Times New Roman" pitchFamily="18" charset="0"/>
              </a:rPr>
              <a:t>MASTER OF COMPUTER </a:t>
            </a:r>
            <a:r>
              <a:rPr lang="en-US" sz="2400" b="1" dirty="0" smtClean="0">
                <a:latin typeface="Times New Roman" pitchFamily="18" charset="0"/>
                <a:cs typeface="Times New Roman" pitchFamily="18" charset="0"/>
              </a:rPr>
              <a:t>APPLICATIONS</a:t>
            </a:r>
            <a:endParaRPr lang="en-US" sz="2400" b="1" dirty="0" smtClean="0">
              <a:latin typeface="Times New Roman" pitchFamily="18" charset="0"/>
              <a:cs typeface="Times New Roman" pitchFamily="18" charset="0"/>
            </a:endParaRPr>
          </a:p>
          <a:p>
            <a:pPr algn="ctr"/>
            <a:endParaRPr lang="en-US" sz="2400" b="1" dirty="0" smtClean="0">
              <a:latin typeface="Times New Roman" pitchFamily="18" charset="0"/>
              <a:cs typeface="Times New Roman" pitchFamily="18" charset="0"/>
            </a:endParaRPr>
          </a:p>
          <a:p>
            <a:pPr algn="ctr"/>
            <a:r>
              <a:rPr lang="en-US" sz="2000" b="1" dirty="0" smtClean="0">
                <a:latin typeface="Times New Roman" pitchFamily="18" charset="0"/>
                <a:cs typeface="Times New Roman" pitchFamily="18" charset="0"/>
              </a:rPr>
              <a:t>Project Title: </a:t>
            </a:r>
            <a:r>
              <a:rPr lang="en-US" sz="2000" b="1" dirty="0" err="1" smtClean="0">
                <a:latin typeface="Times New Roman" pitchFamily="18" charset="0"/>
                <a:cs typeface="Times New Roman" pitchFamily="18" charset="0"/>
              </a:rPr>
              <a:t>Blockchain</a:t>
            </a:r>
            <a:r>
              <a:rPr lang="en-US" sz="2000" b="1" dirty="0" smtClean="0">
                <a:latin typeface="Times New Roman" pitchFamily="18" charset="0"/>
                <a:cs typeface="Times New Roman" pitchFamily="18" charset="0"/>
              </a:rPr>
              <a:t>-based </a:t>
            </a:r>
            <a:r>
              <a:rPr lang="en-US" sz="2000" b="1" dirty="0">
                <a:latin typeface="Times New Roman" pitchFamily="18" charset="0"/>
                <a:cs typeface="Times New Roman" pitchFamily="18" charset="0"/>
              </a:rPr>
              <a:t>Cloud File Sharing System </a:t>
            </a:r>
            <a:endParaRPr lang="en-US" sz="2000" b="1" dirty="0" smtClean="0">
              <a:latin typeface="Times New Roman" pitchFamily="18" charset="0"/>
              <a:cs typeface="Times New Roman" pitchFamily="18" charset="0"/>
            </a:endParaRPr>
          </a:p>
          <a:p>
            <a:pPr algn="ctr"/>
            <a:endParaRPr lang="en-US" sz="2000" b="1" dirty="0" smtClean="0">
              <a:latin typeface="Times New Roman" pitchFamily="18" charset="0"/>
              <a:cs typeface="Times New Roman" pitchFamily="18" charset="0"/>
            </a:endParaRPr>
          </a:p>
          <a:p>
            <a:pPr algn="ctr"/>
            <a:r>
              <a:rPr lang="en-US" sz="2000" b="1" dirty="0" err="1" smtClean="0">
                <a:latin typeface="Times New Roman" pitchFamily="18" charset="0"/>
                <a:cs typeface="Times New Roman" pitchFamily="18" charset="0"/>
              </a:rPr>
              <a:t>Nilesh</a:t>
            </a:r>
            <a:r>
              <a:rPr lang="en-US" sz="2000" b="1" dirty="0" smtClean="0">
                <a:latin typeface="Times New Roman" pitchFamily="18" charset="0"/>
                <a:cs typeface="Times New Roman" pitchFamily="18" charset="0"/>
              </a:rPr>
              <a:t> </a:t>
            </a:r>
            <a:r>
              <a:rPr lang="en-US" sz="2000" b="1" dirty="0" err="1" smtClean="0">
                <a:latin typeface="Times New Roman" pitchFamily="18" charset="0"/>
                <a:cs typeface="Times New Roman" pitchFamily="18" charset="0"/>
              </a:rPr>
              <a:t>Satpute</a:t>
            </a:r>
            <a:endParaRPr lang="en-US" sz="2000" b="1" dirty="0" smtClean="0">
              <a:latin typeface="Times New Roman" pitchFamily="18" charset="0"/>
              <a:cs typeface="Times New Roman" pitchFamily="18" charset="0"/>
            </a:endParaRPr>
          </a:p>
          <a:p>
            <a:pPr algn="ctr"/>
            <a:r>
              <a:rPr lang="en-US" sz="2000" b="1" dirty="0" smtClean="0">
                <a:latin typeface="Times New Roman" pitchFamily="18" charset="0"/>
                <a:cs typeface="Times New Roman" pitchFamily="18" charset="0"/>
              </a:rPr>
              <a:t>2VX23MC097</a:t>
            </a:r>
          </a:p>
          <a:p>
            <a:pPr algn="ctr"/>
            <a:endParaRPr lang="en-US" sz="2000" b="1" dirty="0" smtClean="0">
              <a:latin typeface="Times New Roman" pitchFamily="18" charset="0"/>
              <a:cs typeface="Times New Roman" pitchFamily="18" charset="0"/>
            </a:endParaRPr>
          </a:p>
          <a:p>
            <a:pPr algn="ctr"/>
            <a:r>
              <a:rPr lang="en-US" sz="1800" b="1" dirty="0" smtClean="0">
                <a:latin typeface="Times New Roman" pitchFamily="18" charset="0"/>
                <a:cs typeface="Times New Roman" pitchFamily="18" charset="0"/>
              </a:rPr>
              <a:t>Under the Guidance of</a:t>
            </a:r>
            <a:endParaRPr lang="en-US" sz="1800" dirty="0" smtClean="0">
              <a:latin typeface="Times New Roman" pitchFamily="18" charset="0"/>
              <a:cs typeface="Times New Roman" pitchFamily="18" charset="0"/>
            </a:endParaRPr>
          </a:p>
          <a:p>
            <a:pPr algn="ctr"/>
            <a:r>
              <a:rPr lang="en-US" sz="1800" b="1" dirty="0" smtClean="0">
                <a:latin typeface="Times New Roman" pitchFamily="18" charset="0"/>
                <a:cs typeface="Times New Roman" pitchFamily="18" charset="0"/>
              </a:rPr>
              <a:t>Prof. </a:t>
            </a:r>
            <a:r>
              <a:rPr lang="en-US" sz="1800" b="1" dirty="0" err="1" smtClean="0">
                <a:latin typeface="Times New Roman" pitchFamily="18" charset="0"/>
                <a:cs typeface="Times New Roman" pitchFamily="18" charset="0"/>
              </a:rPr>
              <a:t>Saraswati</a:t>
            </a:r>
            <a:r>
              <a:rPr lang="en-US" sz="1800" b="1" dirty="0" smtClean="0">
                <a:latin typeface="Times New Roman" pitchFamily="18" charset="0"/>
                <a:cs typeface="Times New Roman" pitchFamily="18" charset="0"/>
              </a:rPr>
              <a:t>  R. </a:t>
            </a:r>
            <a:r>
              <a:rPr lang="en-US" sz="1800" b="1" dirty="0" err="1" smtClean="0">
                <a:latin typeface="Times New Roman" pitchFamily="18" charset="0"/>
                <a:cs typeface="Times New Roman" pitchFamily="18" charset="0"/>
              </a:rPr>
              <a:t>Bhusanur</a:t>
            </a:r>
            <a:endParaRPr lang="en-US" sz="1800" dirty="0" smtClean="0">
              <a:latin typeface="Times New Roman" pitchFamily="18" charset="0"/>
              <a:cs typeface="Times New Roman" pitchFamily="18" charset="0"/>
            </a:endParaRPr>
          </a:p>
          <a:p>
            <a:pPr algn="ctr"/>
            <a:r>
              <a:rPr lang="en-US" sz="1800" dirty="0" smtClean="0">
                <a:latin typeface="Times New Roman" pitchFamily="18" charset="0"/>
                <a:cs typeface="Times New Roman" pitchFamily="18" charset="0"/>
              </a:rPr>
              <a:t>Asst. Prof. Dept. CSE,VTU, </a:t>
            </a:r>
            <a:r>
              <a:rPr lang="en-US" sz="1800" dirty="0" err="1" smtClean="0">
                <a:latin typeface="Times New Roman" pitchFamily="18" charset="0"/>
                <a:cs typeface="Times New Roman" pitchFamily="18" charset="0"/>
              </a:rPr>
              <a:t>Belagavi</a:t>
            </a:r>
            <a:endParaRPr lang="en-US" sz="1800" dirty="0">
              <a:latin typeface="Times New Roman" pitchFamily="18" charset="0"/>
              <a:cs typeface="Times New Roman" pitchFamily="18" charset="0"/>
            </a:endParaRPr>
          </a:p>
        </p:txBody>
      </p:sp>
      <p:pic>
        <p:nvPicPr>
          <p:cNvPr id="4" name="Picture 3"/>
          <p:cNvPicPr/>
          <p:nvPr/>
        </p:nvPicPr>
        <p:blipFill>
          <a:blip r:embed="rId2">
            <a:extLst>
              <a:ext uri="{28A0092B-C50C-407E-A947-70E740481C1C}">
                <a14:useLocalDpi xmlns:lc="http://schemas.openxmlformats.org/drawingml/2006/lockedCanvas" xmlns:pic="http://schemas.openxmlformats.org/drawingml/2006/picture" xmlns:a14="http://schemas.microsoft.com/office/drawing/2010/main" xmlns:wps="http://schemas.microsoft.com/office/word/2010/wordprocessingShape" xmlns:wne="http://schemas.microsoft.com/office/word/2006/wordml" xmlns:wpi="http://schemas.microsoft.com/office/word/2010/wordprocessingInk" xmlns:wpg="http://schemas.microsoft.com/office/word/2010/wordprocessingGroup" xmlns:w16se="http://schemas.microsoft.com/office/word/2015/wordml/symex" xmlns:w16sdtfl="http://schemas.microsoft.com/office/word/2024/wordml/sdtformatlock" xmlns:w16sdtdh="http://schemas.microsoft.com/office/word/2020/wordml/sdtdatahash" xmlns:w16du="http://schemas.microsoft.com/office/word/2023/wordml/word16du" xmlns:w16="http://schemas.microsoft.com/office/word/2018/wordml" xmlns:w16cid="http://schemas.microsoft.com/office/word/2016/wordml/cid" xmlns:w16cex="http://schemas.microsoft.com/office/word/2018/wordml/cex" xmlns:w15="http://schemas.microsoft.com/office/word/2012/wordml" xmlns:w14="http://schemas.microsoft.com/office/word/2010/wordml" xmlns:w="http://schemas.openxmlformats.org/wordprocessingml/2006/main" xmlns:w10="urn:schemas-microsoft-com:office:word" xmlns:wp="http://schemas.openxmlformats.org/drawingml/2006/wordprocessingDrawing" xmlns:wp14="http://schemas.microsoft.com/office/word/2010/wordprocessingDrawing" xmlns:v="urn:schemas-microsoft-com:vml" xmlns:m="http://schemas.openxmlformats.org/officeDocument/2006/math" xmlns:oel="http://schemas.microsoft.com/office/2019/extlst" xmlns:o="urn:schemas-microsoft-com:office:office" xmlns:am3d="http://schemas.microsoft.com/office/drawing/2017/model3d" xmlns:aink="http://schemas.microsoft.com/office/drawing/2016/ink" xmlns:mc="http://schemas.openxmlformats.org/markup-compatibility/2006" xmlns:cx8="http://schemas.microsoft.com/office/drawing/2016/5/14/chartex" xmlns:cx7="http://schemas.microsoft.com/office/drawing/2016/5/13/chartex" xmlns:cx6="http://schemas.microsoft.com/office/drawing/2016/5/12/chartex" xmlns:cx5="http://schemas.microsoft.com/office/drawing/2016/5/11/chartex" xmlns:cx4="http://schemas.microsoft.com/office/drawing/2016/5/10/chartex" xmlns:cx3="http://schemas.microsoft.com/office/drawing/2016/5/9/chartex" xmlns:cx2="http://schemas.microsoft.com/office/drawing/2015/10/21/chartex" xmlns:cx1="http://schemas.microsoft.com/office/drawing/2015/9/8/chartex" xmlns:cx="http://schemas.microsoft.com/office/drawing/2014/chartex" xmlns:wpc="http://schemas.microsoft.com/office/word/2010/wordprocessingCanvas" xmlns="" val="0"/>
              </a:ext>
            </a:extLst>
          </a:blip>
          <a:srcRect/>
          <a:stretch>
            <a:fillRect/>
          </a:stretch>
        </p:blipFill>
        <p:spPr bwMode="auto">
          <a:xfrm>
            <a:off x="838200" y="304800"/>
            <a:ext cx="1371600" cy="1219200"/>
          </a:xfrm>
          <a:prstGeom prst="rect">
            <a:avLst/>
          </a:prstGeom>
          <a:noFill/>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Contents:</a:t>
            </a:r>
            <a:endParaRPr lang="en-US" dirty="0"/>
          </a:p>
        </p:txBody>
      </p:sp>
      <p:sp>
        <p:nvSpPr>
          <p:cNvPr id="3" name="Content Placeholder 2"/>
          <p:cNvSpPr>
            <a:spLocks noGrp="1"/>
          </p:cNvSpPr>
          <p:nvPr>
            <p:ph idx="1"/>
          </p:nvPr>
        </p:nvSpPr>
        <p:spPr/>
        <p:txBody>
          <a:bodyPr>
            <a:normAutofit/>
          </a:bodyPr>
          <a:lstStyle/>
          <a:p>
            <a:r>
              <a:rPr lang="en-US" sz="2400" dirty="0" smtClean="0">
                <a:latin typeface="Times New Roman" pitchFamily="18" charset="0"/>
                <a:cs typeface="Times New Roman" pitchFamily="18" charset="0"/>
              </a:rPr>
              <a:t>Problem Statement </a:t>
            </a:r>
          </a:p>
          <a:p>
            <a:r>
              <a:rPr lang="en-US" sz="2400" dirty="0" smtClean="0">
                <a:latin typeface="Times New Roman" pitchFamily="18" charset="0"/>
                <a:cs typeface="Times New Roman" pitchFamily="18" charset="0"/>
              </a:rPr>
              <a:t>Introduction</a:t>
            </a:r>
          </a:p>
          <a:p>
            <a:r>
              <a:rPr lang="en-US" sz="2400" dirty="0" smtClean="0">
                <a:latin typeface="Times New Roman" pitchFamily="18" charset="0"/>
                <a:cs typeface="Times New Roman" pitchFamily="18" charset="0"/>
              </a:rPr>
              <a:t>Objectives</a:t>
            </a:r>
          </a:p>
          <a:p>
            <a:r>
              <a:rPr lang="en-US" sz="2400" dirty="0" smtClean="0">
                <a:latin typeface="Times New Roman" pitchFamily="18" charset="0"/>
                <a:cs typeface="Times New Roman" pitchFamily="18" charset="0"/>
              </a:rPr>
              <a:t>Literature review</a:t>
            </a:r>
          </a:p>
          <a:p>
            <a:r>
              <a:rPr lang="en-US" sz="2400" dirty="0" smtClean="0">
                <a:latin typeface="Times New Roman" pitchFamily="18" charset="0"/>
                <a:cs typeface="Times New Roman" pitchFamily="18" charset="0"/>
              </a:rPr>
              <a:t>Software Requirement Specification</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Proposed </a:t>
            </a:r>
            <a:r>
              <a:rPr lang="en-US" sz="2400" dirty="0" smtClean="0">
                <a:latin typeface="Times New Roman" pitchFamily="18" charset="0"/>
                <a:cs typeface="Times New Roman" pitchFamily="18" charset="0"/>
              </a:rPr>
              <a:t>methodology</a:t>
            </a:r>
          </a:p>
          <a:p>
            <a:r>
              <a:rPr lang="en-US" sz="2400" dirty="0" smtClean="0">
                <a:latin typeface="Times New Roman" pitchFamily="18" charset="0"/>
                <a:cs typeface="Times New Roman" pitchFamily="18" charset="0"/>
              </a:rPr>
              <a:t>References</a:t>
            </a: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Conclusion</a:t>
            </a:r>
          </a:p>
          <a:p>
            <a:endParaRPr lang="en-US"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Times New Roman" pitchFamily="18" charset="0"/>
                <a:cs typeface="Times New Roman" pitchFamily="18" charset="0"/>
              </a:rPr>
              <a:t>Problem Statement </a:t>
            </a:r>
            <a:br>
              <a:rPr lang="en-US" dirty="0" smtClean="0">
                <a:latin typeface="Times New Roman" pitchFamily="18" charset="0"/>
                <a:cs typeface="Times New Roman" pitchFamily="18" charset="0"/>
              </a:rPr>
            </a:br>
            <a:endParaRPr lang="en-US" dirty="0"/>
          </a:p>
        </p:txBody>
      </p:sp>
      <p:sp>
        <p:nvSpPr>
          <p:cNvPr id="3" name="Content Placeholder 2"/>
          <p:cNvSpPr>
            <a:spLocks noGrp="1"/>
          </p:cNvSpPr>
          <p:nvPr>
            <p:ph idx="1"/>
          </p:nvPr>
        </p:nvSpPr>
        <p:spPr/>
        <p:txBody>
          <a:bodyPr>
            <a:normAutofit/>
          </a:bodyPr>
          <a:lstStyle/>
          <a:p>
            <a:r>
              <a:rPr lang="en-US" sz="2400" dirty="0" smtClean="0">
                <a:latin typeface="Times New Roman" pitchFamily="18" charset="0"/>
                <a:cs typeface="Times New Roman" pitchFamily="18" charset="0"/>
              </a:rPr>
              <a:t>Traditional cloud file-sharing systems are vulnerable to data breaches, unauthorized access, and lack of user control due to their centralized nature</a:t>
            </a:r>
            <a:r>
              <a:rPr lang="en-US" sz="2400" dirty="0" smtClean="0">
                <a:latin typeface="Times New Roman" pitchFamily="18" charset="0"/>
                <a:cs typeface="Times New Roman" pitchFamily="18" charset="0"/>
              </a:rPr>
              <a:t>.</a:t>
            </a:r>
          </a:p>
          <a:p>
            <a:pPr>
              <a:buNone/>
            </a:pPr>
            <a:endParaRPr lang="en-US" sz="2400" dirty="0" smtClean="0">
              <a:latin typeface="Times New Roman" pitchFamily="18" charset="0"/>
              <a:cs typeface="Times New Roman" pitchFamily="18" charset="0"/>
            </a:endParaRPr>
          </a:p>
          <a:p>
            <a:r>
              <a:rPr lang="en-US" sz="2400" dirty="0" smtClean="0">
                <a:latin typeface="Times New Roman" pitchFamily="18" charset="0"/>
                <a:cs typeface="Times New Roman" pitchFamily="18" charset="0"/>
              </a:rPr>
              <a:t>There is a need for a secure, decentralized solution that ensures data integrity, confidentiality, and controlled </a:t>
            </a:r>
            <a:r>
              <a:rPr lang="en-US" sz="2400" dirty="0" smtClean="0">
                <a:latin typeface="Times New Roman" pitchFamily="18" charset="0"/>
                <a:cs typeface="Times New Roman" pitchFamily="18" charset="0"/>
              </a:rPr>
              <a:t>access.</a:t>
            </a:r>
            <a:endParaRPr lang="en-US" sz="2400" dirty="0" smtClean="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INTRODUCTION</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buNone/>
            </a:pPr>
            <a:r>
              <a:rPr lang="en-US" sz="2000" dirty="0" smtClean="0"/>
              <a:t>		The </a:t>
            </a:r>
            <a:r>
              <a:rPr lang="en-US" sz="2000" b="1" dirty="0" err="1" smtClean="0"/>
              <a:t>Blockchain</a:t>
            </a:r>
            <a:r>
              <a:rPr lang="en-US" sz="2000" b="1" dirty="0" smtClean="0"/>
              <a:t>-Based Cloud File Sharing System</a:t>
            </a:r>
            <a:r>
              <a:rPr lang="en-US" sz="2000" dirty="0" smtClean="0"/>
              <a:t> is a secure and decentralized platform designed to overcome the limitations of traditional cloud storage. In centralized systems, users often lose control over their data, raising concerns about privacy and integrity. This project integrates </a:t>
            </a:r>
            <a:r>
              <a:rPr lang="en-US" sz="2000" dirty="0" err="1" smtClean="0"/>
              <a:t>blockchain</a:t>
            </a:r>
            <a:r>
              <a:rPr lang="en-US" sz="2000" dirty="0" smtClean="0"/>
              <a:t> technology to ensure transparency, tamper-proof file storage, and role-based access control. By combining cloud storage with cryptographic encryption and smart contracts, the system allows users to safely upload, share, and manage files while maintaining full ownership and control.</a:t>
            </a:r>
            <a:endParaRPr lang="en-US" sz="20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Times New Roman" pitchFamily="18" charset="0"/>
                <a:cs typeface="Times New Roman" pitchFamily="18" charset="0"/>
              </a:rPr>
              <a:t>Objectives</a:t>
            </a:r>
            <a:br>
              <a:rPr lang="en-US" dirty="0" smtClean="0">
                <a:latin typeface="Times New Roman" pitchFamily="18" charset="0"/>
                <a:cs typeface="Times New Roman" pitchFamily="18" charset="0"/>
              </a:rPr>
            </a:br>
            <a:endParaRPr lang="en-US" dirty="0"/>
          </a:p>
        </p:txBody>
      </p:sp>
      <p:sp>
        <p:nvSpPr>
          <p:cNvPr id="3" name="Content Placeholder 2"/>
          <p:cNvSpPr>
            <a:spLocks noGrp="1"/>
          </p:cNvSpPr>
          <p:nvPr>
            <p:ph idx="1"/>
          </p:nvPr>
        </p:nvSpPr>
        <p:spPr/>
        <p:txBody>
          <a:bodyPr>
            <a:normAutofit/>
          </a:bodyPr>
          <a:lstStyle/>
          <a:p>
            <a:pPr marL="457200" indent="-457200">
              <a:buFont typeface="+mj-lt"/>
              <a:buAutoNum type="arabicPeriod"/>
            </a:pPr>
            <a:r>
              <a:rPr lang="en-US" sz="2000" dirty="0" smtClean="0"/>
              <a:t>To develop a secure cloud-based file sharing platform using </a:t>
            </a:r>
            <a:r>
              <a:rPr lang="en-US" sz="2000" dirty="0" err="1" smtClean="0"/>
              <a:t>blockchain</a:t>
            </a:r>
            <a:r>
              <a:rPr lang="en-US" sz="2000" dirty="0" smtClean="0"/>
              <a:t> technology.</a:t>
            </a:r>
          </a:p>
          <a:p>
            <a:pPr marL="457200" indent="-457200">
              <a:buFont typeface="+mj-lt"/>
              <a:buAutoNum type="arabicPeriod"/>
            </a:pPr>
            <a:r>
              <a:rPr lang="en-US" sz="2000" dirty="0" smtClean="0"/>
              <a:t>To ensure data integrity and confidentiality through encryption and access control.</a:t>
            </a:r>
          </a:p>
          <a:p>
            <a:pPr marL="457200" indent="-457200">
              <a:buFont typeface="+mj-lt"/>
              <a:buAutoNum type="arabicPeriod"/>
            </a:pPr>
            <a:r>
              <a:rPr lang="en-US" sz="2000" dirty="0" smtClean="0"/>
              <a:t>To provide role-based user authentication and permission management.</a:t>
            </a:r>
          </a:p>
          <a:p>
            <a:pPr marL="457200" indent="-457200">
              <a:buFont typeface="+mj-lt"/>
              <a:buAutoNum type="arabicPeriod"/>
            </a:pPr>
            <a:r>
              <a:rPr lang="en-US" sz="2000" dirty="0" smtClean="0"/>
              <a:t>To prevent unauthorized access and tampering of shared files.</a:t>
            </a:r>
          </a:p>
          <a:p>
            <a:pPr marL="457200" indent="-457200">
              <a:buFont typeface="+mj-lt"/>
              <a:buAutoNum type="arabicPeriod"/>
            </a:pPr>
            <a:r>
              <a:rPr lang="en-US" sz="2000" dirty="0" smtClean="0"/>
              <a:t>To enable transparent file-sharing logs using </a:t>
            </a:r>
            <a:r>
              <a:rPr lang="en-US" sz="2000" dirty="0" err="1" smtClean="0"/>
              <a:t>blockchain's</a:t>
            </a:r>
            <a:r>
              <a:rPr lang="en-US" sz="2000" dirty="0" smtClean="0"/>
              <a:t> immutable ledger.</a:t>
            </a:r>
          </a:p>
          <a:p>
            <a:pPr>
              <a:buNone/>
            </a:pPr>
            <a:endParaRPr lang="en-US" sz="2000" dirty="0">
              <a:latin typeface="Times New Roman" pitchFamily="18" charset="0"/>
              <a:cs typeface="Times New Roman"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 Literature Review</a:t>
            </a:r>
            <a:endParaRPr lang="en-US" dirty="0"/>
          </a:p>
        </p:txBody>
      </p:sp>
      <p:sp>
        <p:nvSpPr>
          <p:cNvPr id="3" name="Content Placeholder 2"/>
          <p:cNvSpPr>
            <a:spLocks noGrp="1"/>
          </p:cNvSpPr>
          <p:nvPr>
            <p:ph idx="1"/>
          </p:nvPr>
        </p:nvSpPr>
        <p:spPr/>
        <p:txBody>
          <a:bodyPr>
            <a:normAutofit/>
          </a:bodyPr>
          <a:lstStyle/>
          <a:p>
            <a:r>
              <a:rPr lang="en-US" sz="2400" b="1" dirty="0" smtClean="0">
                <a:latin typeface="Times New Roman" pitchFamily="18" charset="0"/>
                <a:cs typeface="Times New Roman" pitchFamily="18" charset="0"/>
              </a:rPr>
              <a:t>Existing Cloud Storage Systems:</a:t>
            </a:r>
          </a:p>
          <a:p>
            <a:pPr>
              <a:buNone/>
            </a:pPr>
            <a:r>
              <a:rPr lang="en-US" sz="2400" dirty="0" smtClean="0">
                <a:latin typeface="Times New Roman" pitchFamily="18" charset="0"/>
                <a:cs typeface="Times New Roman" pitchFamily="18" charset="0"/>
              </a:rPr>
              <a:t> Google Drive, </a:t>
            </a:r>
            <a:r>
              <a:rPr lang="en-US" sz="2400" dirty="0" err="1" smtClean="0">
                <a:latin typeface="Times New Roman" pitchFamily="18" charset="0"/>
                <a:cs typeface="Times New Roman" pitchFamily="18" charset="0"/>
              </a:rPr>
              <a:t>Dropbox</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OneDrive</a:t>
            </a:r>
            <a:endParaRPr lang="en-US" sz="2400" dirty="0" smtClean="0">
              <a:latin typeface="Times New Roman" pitchFamily="18" charset="0"/>
              <a:cs typeface="Times New Roman" pitchFamily="18" charset="0"/>
            </a:endParaRPr>
          </a:p>
          <a:p>
            <a:pPr>
              <a:buNone/>
            </a:pPr>
            <a:r>
              <a:rPr lang="en-US" sz="2400" dirty="0" smtClean="0">
                <a:latin typeface="Times New Roman" pitchFamily="18" charset="0"/>
                <a:cs typeface="Times New Roman" pitchFamily="18" charset="0"/>
              </a:rPr>
              <a:t> Centralized, prone to security risks, and data breaches</a:t>
            </a:r>
          </a:p>
          <a:p>
            <a:endParaRPr lang="en-US" sz="2400" dirty="0" smtClean="0">
              <a:latin typeface="Times New Roman" pitchFamily="18" charset="0"/>
              <a:cs typeface="Times New Roman" pitchFamily="18" charset="0"/>
            </a:endParaRPr>
          </a:p>
          <a:p>
            <a:endParaRPr lang="en-US" sz="2400" dirty="0" smtClean="0">
              <a:latin typeface="Times New Roman" pitchFamily="18" charset="0"/>
              <a:cs typeface="Times New Roman" pitchFamily="18" charset="0"/>
            </a:endParaRPr>
          </a:p>
          <a:p>
            <a:r>
              <a:rPr lang="en-US" sz="2400" b="1" dirty="0" err="1" smtClean="0">
                <a:latin typeface="Times New Roman" pitchFamily="18" charset="0"/>
                <a:cs typeface="Times New Roman" pitchFamily="18" charset="0"/>
              </a:rPr>
              <a:t>Blockchain</a:t>
            </a:r>
            <a:r>
              <a:rPr lang="en-US" sz="2400" b="1" dirty="0" smtClean="0">
                <a:latin typeface="Times New Roman" pitchFamily="18" charset="0"/>
                <a:cs typeface="Times New Roman" pitchFamily="18" charset="0"/>
              </a:rPr>
              <a:t> in Cloud Storage: </a:t>
            </a:r>
          </a:p>
          <a:p>
            <a:pPr>
              <a:buNone/>
            </a:pPr>
            <a:r>
              <a:rPr lang="en-US" sz="2400" dirty="0" smtClean="0">
                <a:latin typeface="Times New Roman" pitchFamily="18" charset="0"/>
                <a:cs typeface="Times New Roman" pitchFamily="18" charset="0"/>
              </a:rPr>
              <a:t> Use of decentralized ledger for secure file transactions</a:t>
            </a:r>
          </a:p>
          <a:p>
            <a:pPr>
              <a:buNone/>
            </a:pPr>
            <a:r>
              <a:rPr lang="en-US" sz="2400" dirty="0" smtClean="0">
                <a:latin typeface="Times New Roman" pitchFamily="18" charset="0"/>
                <a:cs typeface="Times New Roman" pitchFamily="18" charset="0"/>
              </a:rPr>
              <a:t> IPFS (</a:t>
            </a:r>
            <a:r>
              <a:rPr lang="en-US" sz="2400" dirty="0" err="1" smtClean="0">
                <a:latin typeface="Times New Roman" pitchFamily="18" charset="0"/>
                <a:cs typeface="Times New Roman" pitchFamily="18" charset="0"/>
              </a:rPr>
              <a:t>InterPlanetary</a:t>
            </a:r>
            <a:r>
              <a:rPr lang="en-US" sz="2400" dirty="0" smtClean="0">
                <a:latin typeface="Times New Roman" pitchFamily="18" charset="0"/>
                <a:cs typeface="Times New Roman" pitchFamily="18" charset="0"/>
              </a:rPr>
              <a:t> File System) for distributed storage</a:t>
            </a:r>
          </a:p>
          <a:p>
            <a:pPr>
              <a:buNone/>
            </a:pPr>
            <a:r>
              <a:rPr lang="en-US" sz="2400" dirty="0" smtClean="0">
                <a:latin typeface="Times New Roman" pitchFamily="18" charset="0"/>
                <a:cs typeface="Times New Roman" pitchFamily="18" charset="0"/>
              </a:rPr>
              <a:t> Smart contracts for automated permissions and security</a:t>
            </a:r>
            <a:endParaRPr lang="en-US" sz="24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Times New Roman" pitchFamily="18" charset="0"/>
                <a:cs typeface="Times New Roman" pitchFamily="18" charset="0"/>
              </a:rPr>
              <a:t>Software </a:t>
            </a:r>
            <a:r>
              <a:rPr lang="en-US" dirty="0" smtClean="0">
                <a:latin typeface="Times New Roman" pitchFamily="18" charset="0"/>
                <a:cs typeface="Times New Roman" pitchFamily="18" charset="0"/>
              </a:rPr>
              <a:t> Requirement Specification</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fontScale="92500" lnSpcReduction="20000"/>
          </a:bodyPr>
          <a:lstStyle/>
          <a:p>
            <a:pPr algn="just">
              <a:buNone/>
            </a:pPr>
            <a:r>
              <a:rPr lang="en-US" sz="2200" b="1" dirty="0" smtClean="0">
                <a:latin typeface="Times New Roman" pitchFamily="18" charset="0"/>
                <a:cs typeface="Times New Roman" pitchFamily="18" charset="0"/>
              </a:rPr>
              <a:t>Functional Requirements:</a:t>
            </a:r>
            <a:endParaRPr lang="en-US" sz="2200" dirty="0" smtClean="0">
              <a:latin typeface="Times New Roman" pitchFamily="18" charset="0"/>
              <a:cs typeface="Times New Roman" pitchFamily="18" charset="0"/>
            </a:endParaRPr>
          </a:p>
          <a:p>
            <a:pPr algn="just"/>
            <a:r>
              <a:rPr lang="en-US" sz="2200" dirty="0" smtClean="0">
                <a:latin typeface="Times New Roman" pitchFamily="18" charset="0"/>
                <a:cs typeface="Times New Roman" pitchFamily="18" charset="0"/>
              </a:rPr>
              <a:t>Users must be able to register, log in, and securely upload/download files.</a:t>
            </a:r>
          </a:p>
          <a:p>
            <a:pPr algn="just"/>
            <a:r>
              <a:rPr lang="en-US" sz="2200" dirty="0" smtClean="0">
                <a:latin typeface="Times New Roman" pitchFamily="18" charset="0"/>
                <a:cs typeface="Times New Roman" pitchFamily="18" charset="0"/>
              </a:rPr>
              <a:t>Files are encrypted using AES before storage.</a:t>
            </a:r>
          </a:p>
          <a:p>
            <a:pPr algn="just"/>
            <a:r>
              <a:rPr lang="en-US" sz="2200" dirty="0" smtClean="0">
                <a:latin typeface="Times New Roman" pitchFamily="18" charset="0"/>
                <a:cs typeface="Times New Roman" pitchFamily="18" charset="0"/>
              </a:rPr>
              <a:t>Smart contracts manage access control based on user roles.</a:t>
            </a:r>
          </a:p>
          <a:p>
            <a:pPr algn="just"/>
            <a:r>
              <a:rPr lang="en-US" sz="2200" dirty="0" smtClean="0">
                <a:latin typeface="Times New Roman" pitchFamily="18" charset="0"/>
                <a:cs typeface="Times New Roman" pitchFamily="18" charset="0"/>
              </a:rPr>
              <a:t>Admin can monitor user activities, manage files, and view logs</a:t>
            </a:r>
            <a:r>
              <a:rPr lang="en-US" sz="2200" dirty="0" smtClean="0">
                <a:latin typeface="Times New Roman" pitchFamily="18" charset="0"/>
                <a:cs typeface="Times New Roman" pitchFamily="18" charset="0"/>
              </a:rPr>
              <a:t>.</a:t>
            </a:r>
          </a:p>
          <a:p>
            <a:pPr algn="just"/>
            <a:endParaRPr lang="en-US" sz="2200" dirty="0" smtClean="0">
              <a:latin typeface="Times New Roman" pitchFamily="18" charset="0"/>
              <a:cs typeface="Times New Roman" pitchFamily="18" charset="0"/>
            </a:endParaRPr>
          </a:p>
          <a:p>
            <a:pPr algn="just">
              <a:buNone/>
            </a:pPr>
            <a:r>
              <a:rPr lang="en-US" sz="2200" b="1" dirty="0" smtClean="0">
                <a:latin typeface="Times New Roman" pitchFamily="18" charset="0"/>
                <a:cs typeface="Times New Roman" pitchFamily="18" charset="0"/>
              </a:rPr>
              <a:t> </a:t>
            </a:r>
            <a:r>
              <a:rPr lang="en-US" sz="2200" b="1" dirty="0" smtClean="0">
                <a:latin typeface="Times New Roman" pitchFamily="18" charset="0"/>
                <a:cs typeface="Times New Roman" pitchFamily="18" charset="0"/>
              </a:rPr>
              <a:t>Non-Functional Requirements:</a:t>
            </a:r>
            <a:endParaRPr lang="en-US" sz="2200" dirty="0" smtClean="0">
              <a:latin typeface="Times New Roman" pitchFamily="18" charset="0"/>
              <a:cs typeface="Times New Roman" pitchFamily="18" charset="0"/>
            </a:endParaRPr>
          </a:p>
          <a:p>
            <a:pPr algn="just"/>
            <a:r>
              <a:rPr lang="en-US" sz="2200" b="1" dirty="0" smtClean="0">
                <a:latin typeface="Times New Roman" pitchFamily="18" charset="0"/>
                <a:cs typeface="Times New Roman" pitchFamily="18" charset="0"/>
              </a:rPr>
              <a:t>Security:</a:t>
            </a:r>
            <a:r>
              <a:rPr lang="en-US" sz="2200" dirty="0" smtClean="0">
                <a:latin typeface="Times New Roman" pitchFamily="18" charset="0"/>
                <a:cs typeface="Times New Roman" pitchFamily="18" charset="0"/>
              </a:rPr>
              <a:t> Ensures confidentiality and integrity through AES encryption and </a:t>
            </a:r>
            <a:r>
              <a:rPr lang="en-US" sz="2200" dirty="0" err="1" smtClean="0">
                <a:latin typeface="Times New Roman" pitchFamily="18" charset="0"/>
                <a:cs typeface="Times New Roman" pitchFamily="18" charset="0"/>
              </a:rPr>
              <a:t>blockchain</a:t>
            </a:r>
            <a:r>
              <a:rPr lang="en-US" sz="2200" dirty="0" smtClean="0">
                <a:latin typeface="Times New Roman" pitchFamily="18" charset="0"/>
                <a:cs typeface="Times New Roman" pitchFamily="18" charset="0"/>
              </a:rPr>
              <a:t> hashing.</a:t>
            </a:r>
          </a:p>
          <a:p>
            <a:pPr algn="just"/>
            <a:r>
              <a:rPr lang="en-US" sz="2200" b="1" dirty="0" smtClean="0">
                <a:latin typeface="Times New Roman" pitchFamily="18" charset="0"/>
                <a:cs typeface="Times New Roman" pitchFamily="18" charset="0"/>
              </a:rPr>
              <a:t>Scalability:</a:t>
            </a:r>
            <a:r>
              <a:rPr lang="en-US" sz="2200" dirty="0" smtClean="0">
                <a:latin typeface="Times New Roman" pitchFamily="18" charset="0"/>
                <a:cs typeface="Times New Roman" pitchFamily="18" charset="0"/>
              </a:rPr>
              <a:t> Supports increasing users and file loads without performance degradation.</a:t>
            </a:r>
          </a:p>
          <a:p>
            <a:pPr algn="just"/>
            <a:r>
              <a:rPr lang="en-US" sz="2200" b="1" dirty="0" smtClean="0">
                <a:latin typeface="Times New Roman" pitchFamily="18" charset="0"/>
                <a:cs typeface="Times New Roman" pitchFamily="18" charset="0"/>
              </a:rPr>
              <a:t>Usability:</a:t>
            </a:r>
            <a:r>
              <a:rPr lang="en-US" sz="2200" dirty="0" smtClean="0">
                <a:latin typeface="Times New Roman" pitchFamily="18" charset="0"/>
                <a:cs typeface="Times New Roman" pitchFamily="18" charset="0"/>
              </a:rPr>
              <a:t> Clean, user-friendly interface for both users and admin.</a:t>
            </a:r>
          </a:p>
          <a:p>
            <a:pPr algn="just"/>
            <a:r>
              <a:rPr lang="en-US" sz="2200" b="1" dirty="0" smtClean="0">
                <a:latin typeface="Times New Roman" pitchFamily="18" charset="0"/>
                <a:cs typeface="Times New Roman" pitchFamily="18" charset="0"/>
              </a:rPr>
              <a:t>Reliability:</a:t>
            </a:r>
            <a:r>
              <a:rPr lang="en-US" sz="2200" dirty="0" smtClean="0">
                <a:latin typeface="Times New Roman" pitchFamily="18" charset="0"/>
                <a:cs typeface="Times New Roman" pitchFamily="18" charset="0"/>
              </a:rPr>
              <a:t> Maintains uptime and prevents single-point failure using decentralized storage.</a:t>
            </a:r>
          </a:p>
          <a:p>
            <a:endParaRPr lang="en-US" sz="2200" dirty="0" smtClean="0"/>
          </a:p>
          <a:p>
            <a:pPr lvl="0">
              <a:buNone/>
            </a:pPr>
            <a:endParaRPr lang="en-US" sz="2200" dirty="0" smtClean="0">
              <a:latin typeface="Times New Roman" pitchFamily="18" charset="0"/>
              <a:cs typeface="Times New Roman" pitchFamily="18" charset="0"/>
            </a:endParaRPr>
          </a:p>
          <a:p>
            <a:pPr lvl="0"/>
            <a:endParaRPr lang="en-US" sz="2400" dirty="0" smtClean="0">
              <a:latin typeface="Times New Roman" pitchFamily="18" charset="0"/>
              <a:cs typeface="Times New Roman" pitchFamily="18" charset="0"/>
            </a:endParaRPr>
          </a:p>
          <a:p>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Times New Roman" pitchFamily="18" charset="0"/>
                <a:cs typeface="Times New Roman" pitchFamily="18" charset="0"/>
              </a:rPr>
              <a:t>Software  Requirement Specification</a:t>
            </a:r>
            <a:endParaRPr lang="en-US" dirty="0"/>
          </a:p>
        </p:txBody>
      </p:sp>
      <p:sp>
        <p:nvSpPr>
          <p:cNvPr id="3" name="Content Placeholder 2"/>
          <p:cNvSpPr>
            <a:spLocks noGrp="1"/>
          </p:cNvSpPr>
          <p:nvPr>
            <p:ph idx="1"/>
          </p:nvPr>
        </p:nvSpPr>
        <p:spPr/>
        <p:txBody>
          <a:bodyPr/>
          <a:lstStyle/>
          <a:p>
            <a:pPr lvl="0"/>
            <a:r>
              <a:rPr lang="en-US" sz="2000" b="1" dirty="0" smtClean="0">
                <a:latin typeface="Times New Roman" pitchFamily="18" charset="0"/>
                <a:cs typeface="Times New Roman" pitchFamily="18" charset="0"/>
              </a:rPr>
              <a:t>Software Requirement</a:t>
            </a:r>
            <a:endParaRPr lang="en-US" sz="2000" dirty="0" smtClean="0">
              <a:latin typeface="Times New Roman" pitchFamily="18" charset="0"/>
              <a:cs typeface="Times New Roman" pitchFamily="18" charset="0"/>
            </a:endParaRPr>
          </a:p>
          <a:p>
            <a:pPr lvl="0">
              <a:buNone/>
            </a:pPr>
            <a:r>
              <a:rPr lang="en-US" sz="2000" dirty="0" smtClean="0">
                <a:latin typeface="Times New Roman" pitchFamily="18" charset="0"/>
                <a:cs typeface="Times New Roman" pitchFamily="18" charset="0"/>
              </a:rPr>
              <a:t> 	Visual Studio 2019 </a:t>
            </a:r>
          </a:p>
          <a:p>
            <a:pPr lvl="0">
              <a:buNone/>
            </a:pPr>
            <a:r>
              <a:rPr lang="en-US" sz="2000" dirty="0" smtClean="0">
                <a:latin typeface="Times New Roman" pitchFamily="18" charset="0"/>
                <a:cs typeface="Times New Roman" pitchFamily="18" charset="0"/>
              </a:rPr>
              <a:t>	 Database: Microsoft SQL Server</a:t>
            </a:r>
          </a:p>
          <a:p>
            <a:pPr lvl="0">
              <a:buNone/>
            </a:pPr>
            <a:r>
              <a:rPr lang="en-US" sz="2000" dirty="0" smtClean="0">
                <a:latin typeface="Times New Roman" pitchFamily="18" charset="0"/>
                <a:cs typeface="Times New Roman" pitchFamily="18" charset="0"/>
              </a:rPr>
              <a:t>	 Frontend: ASP.NET </a:t>
            </a:r>
          </a:p>
          <a:p>
            <a:pPr lvl="0">
              <a:buNone/>
            </a:pPr>
            <a:r>
              <a:rPr lang="en-US" sz="2000" dirty="0" smtClean="0">
                <a:latin typeface="Times New Roman" pitchFamily="18" charset="0"/>
                <a:cs typeface="Times New Roman" pitchFamily="18" charset="0"/>
              </a:rPr>
              <a:t>	 Backend: ADO.NET </a:t>
            </a:r>
          </a:p>
          <a:p>
            <a:pPr lvl="0">
              <a:buNone/>
            </a:pPr>
            <a:r>
              <a:rPr lang="en-US" sz="2000" dirty="0" smtClean="0">
                <a:latin typeface="Times New Roman" pitchFamily="18" charset="0"/>
                <a:cs typeface="Times New Roman" pitchFamily="18" charset="0"/>
              </a:rPr>
              <a:t>	 </a:t>
            </a:r>
            <a:r>
              <a:rPr lang="en-US" sz="2000" dirty="0" err="1" smtClean="0">
                <a:latin typeface="Times New Roman" pitchFamily="18" charset="0"/>
                <a:cs typeface="Times New Roman" pitchFamily="18" charset="0"/>
              </a:rPr>
              <a:t>Blockchain</a:t>
            </a:r>
            <a:r>
              <a:rPr lang="en-US" sz="2000" dirty="0" smtClean="0">
                <a:latin typeface="Times New Roman" pitchFamily="18" charset="0"/>
                <a:cs typeface="Times New Roman" pitchFamily="18" charset="0"/>
              </a:rPr>
              <a:t> Integration: </a:t>
            </a:r>
            <a:r>
              <a:rPr lang="en-US" sz="2000" dirty="0" err="1" smtClean="0">
                <a:latin typeface="Times New Roman" pitchFamily="18" charset="0"/>
                <a:cs typeface="Times New Roman" pitchFamily="18" charset="0"/>
              </a:rPr>
              <a:t>Ethereum</a:t>
            </a:r>
            <a:endParaRPr lang="en-US" sz="2000" dirty="0" smtClean="0">
              <a:latin typeface="Times New Roman" pitchFamily="18" charset="0"/>
              <a:cs typeface="Times New Roman" pitchFamily="18" charset="0"/>
            </a:endParaRPr>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Times New Roman" pitchFamily="18" charset="0"/>
                <a:cs typeface="Times New Roman" pitchFamily="18" charset="0"/>
              </a:rPr>
              <a:t>Proposed methodology</a:t>
            </a:r>
            <a:br>
              <a:rPr lang="en-US" dirty="0" smtClean="0">
                <a:latin typeface="Times New Roman" pitchFamily="18" charset="0"/>
                <a:cs typeface="Times New Roman" pitchFamily="18" charset="0"/>
              </a:rPr>
            </a:br>
            <a:endParaRPr lang="en-US" dirty="0"/>
          </a:p>
        </p:txBody>
      </p:sp>
      <p:sp>
        <p:nvSpPr>
          <p:cNvPr id="3" name="Content Placeholder 2"/>
          <p:cNvSpPr>
            <a:spLocks noGrp="1"/>
          </p:cNvSpPr>
          <p:nvPr>
            <p:ph idx="1"/>
          </p:nvPr>
        </p:nvSpPr>
        <p:spPr>
          <a:xfrm>
            <a:off x="457200" y="1371600"/>
            <a:ext cx="8229600" cy="5181600"/>
          </a:xfrm>
        </p:spPr>
        <p:txBody>
          <a:bodyPr>
            <a:normAutofit fontScale="62500" lnSpcReduction="20000"/>
          </a:bodyPr>
          <a:lstStyle/>
          <a:p>
            <a:r>
              <a:rPr lang="en-US" b="1" dirty="0" smtClean="0"/>
              <a:t>Requirement Analysis</a:t>
            </a:r>
            <a:endParaRPr lang="en-US" dirty="0" smtClean="0"/>
          </a:p>
          <a:p>
            <a:pPr>
              <a:buNone/>
            </a:pPr>
            <a:r>
              <a:rPr lang="en-US" dirty="0" smtClean="0"/>
              <a:t>	Gather </a:t>
            </a:r>
            <a:r>
              <a:rPr lang="en-US" dirty="0" smtClean="0"/>
              <a:t>user requirements and system expectations.</a:t>
            </a:r>
          </a:p>
          <a:p>
            <a:r>
              <a:rPr lang="en-US" b="1" dirty="0" smtClean="0"/>
              <a:t>System Design</a:t>
            </a:r>
            <a:endParaRPr lang="en-US" dirty="0" smtClean="0"/>
          </a:p>
          <a:p>
            <a:pPr>
              <a:buNone/>
            </a:pPr>
            <a:r>
              <a:rPr lang="en-US" dirty="0" smtClean="0"/>
              <a:t>	Design </a:t>
            </a:r>
            <a:r>
              <a:rPr lang="en-US" dirty="0" smtClean="0"/>
              <a:t>system architecture including frontend, backend, </a:t>
            </a:r>
            <a:r>
              <a:rPr lang="en-US" dirty="0" err="1" smtClean="0"/>
              <a:t>blockchain</a:t>
            </a:r>
            <a:r>
              <a:rPr lang="en-US" dirty="0" smtClean="0"/>
              <a:t>, and </a:t>
            </a:r>
            <a:r>
              <a:rPr lang="en-US" dirty="0" smtClean="0"/>
              <a:t>database.</a:t>
            </a:r>
            <a:endParaRPr lang="en-US" dirty="0" smtClean="0"/>
          </a:p>
          <a:p>
            <a:r>
              <a:rPr lang="en-US" b="1" dirty="0" smtClean="0"/>
              <a:t>Implementation</a:t>
            </a:r>
            <a:endParaRPr lang="en-US" dirty="0" smtClean="0"/>
          </a:p>
          <a:p>
            <a:pPr>
              <a:buNone/>
            </a:pPr>
            <a:r>
              <a:rPr lang="en-US" dirty="0" smtClean="0"/>
              <a:t>	Develop </a:t>
            </a:r>
            <a:r>
              <a:rPr lang="en-US" dirty="0" smtClean="0"/>
              <a:t>frontend using HTML, CSS, and JavaScript.</a:t>
            </a:r>
          </a:p>
          <a:p>
            <a:pPr>
              <a:buNone/>
            </a:pPr>
            <a:r>
              <a:rPr lang="en-US" dirty="0" smtClean="0"/>
              <a:t>	Backend </a:t>
            </a:r>
            <a:r>
              <a:rPr lang="en-US" dirty="0" smtClean="0"/>
              <a:t>logic using ASP.NET and C# for file handling and user operations.</a:t>
            </a:r>
          </a:p>
          <a:p>
            <a:pPr>
              <a:buNone/>
            </a:pPr>
            <a:r>
              <a:rPr lang="en-US" dirty="0" smtClean="0"/>
              <a:t>	Connect </a:t>
            </a:r>
            <a:r>
              <a:rPr lang="en-US" dirty="0" smtClean="0"/>
              <a:t>to MSSQL via ADO.NET and integrate AES encryption for secure file storage.</a:t>
            </a:r>
          </a:p>
          <a:p>
            <a:r>
              <a:rPr lang="en-US" b="1" dirty="0" err="1" smtClean="0"/>
              <a:t>Blockchain</a:t>
            </a:r>
            <a:r>
              <a:rPr lang="en-US" b="1" dirty="0" smtClean="0"/>
              <a:t> Integration</a:t>
            </a:r>
            <a:endParaRPr lang="en-US" dirty="0" smtClean="0"/>
          </a:p>
          <a:p>
            <a:pPr>
              <a:buNone/>
            </a:pPr>
            <a:r>
              <a:rPr lang="en-US" dirty="0" smtClean="0"/>
              <a:t>	Use </a:t>
            </a:r>
            <a:r>
              <a:rPr lang="en-US" dirty="0" err="1" smtClean="0"/>
              <a:t>Ethereum</a:t>
            </a:r>
            <a:r>
              <a:rPr lang="en-US" dirty="0" smtClean="0"/>
              <a:t> smart contracts for decentralized access control.</a:t>
            </a:r>
          </a:p>
          <a:p>
            <a:pPr>
              <a:buNone/>
            </a:pPr>
            <a:r>
              <a:rPr lang="en-US" dirty="0" smtClean="0"/>
              <a:t>	Store </a:t>
            </a:r>
            <a:r>
              <a:rPr lang="en-US" dirty="0" smtClean="0"/>
              <a:t>file hashes on </a:t>
            </a:r>
            <a:r>
              <a:rPr lang="en-US" dirty="0" err="1" smtClean="0"/>
              <a:t>blockchain</a:t>
            </a:r>
            <a:r>
              <a:rPr lang="en-US" dirty="0" smtClean="0"/>
              <a:t> to ensure </a:t>
            </a:r>
            <a:r>
              <a:rPr lang="en-US" dirty="0" smtClean="0"/>
              <a:t>immutability.</a:t>
            </a:r>
            <a:endParaRPr lang="en-US" dirty="0" smtClean="0"/>
          </a:p>
          <a:p>
            <a:r>
              <a:rPr lang="en-US" b="1" dirty="0" smtClean="0"/>
              <a:t>Testing and Evaluation</a:t>
            </a:r>
          </a:p>
          <a:p>
            <a:pPr>
              <a:buNone/>
            </a:pPr>
            <a:r>
              <a:rPr lang="en-US" dirty="0" smtClean="0"/>
              <a:t>	Validate </a:t>
            </a:r>
            <a:r>
              <a:rPr lang="en-US" dirty="0" smtClean="0"/>
              <a:t>encryption, </a:t>
            </a:r>
            <a:r>
              <a:rPr lang="en-US" dirty="0" err="1" smtClean="0"/>
              <a:t>blockchain</a:t>
            </a:r>
            <a:r>
              <a:rPr lang="en-US" dirty="0" smtClean="0"/>
              <a:t> functions, and file-sharing features</a:t>
            </a:r>
            <a:r>
              <a:rPr lang="en-US" dirty="0" smtClean="0"/>
              <a:t>.</a:t>
            </a:r>
          </a:p>
          <a:p>
            <a:r>
              <a:rPr lang="en-US" b="1" dirty="0" smtClean="0"/>
              <a:t>Deployment</a:t>
            </a:r>
            <a:endParaRPr lang="en-US" dirty="0" smtClean="0"/>
          </a:p>
          <a:p>
            <a:pPr>
              <a:buNone/>
            </a:pPr>
            <a:r>
              <a:rPr lang="en-US" dirty="0" smtClean="0"/>
              <a:t>	Deploy </a:t>
            </a:r>
            <a:r>
              <a:rPr lang="en-US" dirty="0" smtClean="0"/>
              <a:t>system on a test server.</a:t>
            </a:r>
          </a:p>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dirty="0" smtClean="0">
                <a:latin typeface="Times New Roman" pitchFamily="18" charset="0"/>
                <a:cs typeface="Times New Roman" pitchFamily="18" charset="0"/>
              </a:rPr>
              <a:t>UML Diagram</a:t>
            </a:r>
            <a:endParaRPr lang="en-US" sz="4000" dirty="0">
              <a:latin typeface="Times New Roman" pitchFamily="18" charset="0"/>
              <a:cs typeface="Times New Roman" pitchFamily="18" charset="0"/>
            </a:endParaRPr>
          </a:p>
        </p:txBody>
      </p:sp>
      <p:pic>
        <p:nvPicPr>
          <p:cNvPr id="4" name="Content Placeholder 3" descr="ChatGPT Image Apr 21, 2025, 12_40_01 PM.png"/>
          <p:cNvPicPr>
            <a:picLocks noGrp="1" noChangeAspect="1"/>
          </p:cNvPicPr>
          <p:nvPr>
            <p:ph idx="1"/>
          </p:nvPr>
        </p:nvPicPr>
        <p:blipFill>
          <a:blip r:embed="rId2"/>
          <a:stretch>
            <a:fillRect/>
          </a:stretch>
        </p:blipFill>
        <p:spPr>
          <a:xfrm>
            <a:off x="1177527" y="1600200"/>
            <a:ext cx="6788945" cy="4525963"/>
          </a:xfr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latin typeface="Times New Roman" pitchFamily="18" charset="0"/>
                <a:cs typeface="Times New Roman" pitchFamily="18" charset="0"/>
              </a:rPr>
              <a:t>Sequence </a:t>
            </a:r>
            <a:r>
              <a:rPr lang="en-US" dirty="0" smtClean="0">
                <a:latin typeface="Times New Roman" pitchFamily="18" charset="0"/>
                <a:cs typeface="Times New Roman" pitchFamily="18" charset="0"/>
              </a:rPr>
              <a:t>Diagram</a:t>
            </a:r>
            <a:r>
              <a:rPr lang="en-US" dirty="0" smtClean="0"/>
              <a:t/>
            </a:r>
            <a:br>
              <a:rPr lang="en-US" dirty="0" smtClean="0"/>
            </a:br>
            <a:endParaRPr lang="en-US" dirty="0"/>
          </a:p>
        </p:txBody>
      </p:sp>
      <p:pic>
        <p:nvPicPr>
          <p:cNvPr id="4" name="Content Placeholder 3"/>
          <p:cNvPicPr>
            <a:picLocks noGrp="1"/>
          </p:cNvPicPr>
          <p:nvPr>
            <p:ph idx="1"/>
          </p:nvPr>
        </p:nvPicPr>
        <p:blipFill>
          <a:blip r:embed="rId2">
            <a:extLst>
              <a:ext uri="{28A0092B-C50C-407E-A947-70E740481C1C}">
                <a14:useLocalDpi xmlns=""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oel="http://schemas.microsoft.com/office/2019/extlst"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a14="http://schemas.microsoft.com/office/drawing/2010/main" xmlns:pic="http://schemas.openxmlformats.org/drawingml/2006/picture" xmlns:lc="http://schemas.openxmlformats.org/drawingml/2006/lockedCanvas" val="0"/>
              </a:ext>
            </a:extLst>
          </a:blip>
          <a:srcRect/>
          <a:stretch>
            <a:fillRect/>
          </a:stretch>
        </p:blipFill>
        <p:spPr bwMode="auto">
          <a:xfrm>
            <a:off x="1752600" y="914400"/>
            <a:ext cx="5715000" cy="56388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990600"/>
          </a:xfrm>
        </p:spPr>
        <p:txBody>
          <a:bodyPr/>
          <a:lstStyle/>
          <a:p>
            <a:r>
              <a:rPr lang="en-US" dirty="0" smtClean="0">
                <a:latin typeface="Times New Roman" pitchFamily="18" charset="0"/>
                <a:cs typeface="Times New Roman" pitchFamily="18" charset="0"/>
              </a:rPr>
              <a:t>Sequence Diagram</a:t>
            </a:r>
            <a:endParaRPr lang="en-US" dirty="0"/>
          </a:p>
        </p:txBody>
      </p:sp>
      <p:pic>
        <p:nvPicPr>
          <p:cNvPr id="4" name="Content Placeholder 3"/>
          <p:cNvPicPr>
            <a:picLocks noGrp="1"/>
          </p:cNvPicPr>
          <p:nvPr>
            <p:ph idx="1"/>
          </p:nvPr>
        </p:nvPicPr>
        <p:blipFill>
          <a:blip r:embed="rId2">
            <a:extLst>
              <a:ext uri="{28A0092B-C50C-407E-A947-70E740481C1C}">
                <a14:useLocalDpi xmlns="" xmlns:wpc="http://schemas.microsoft.com/office/word/2010/wordprocessingCanvas" xmlns:cx="http://schemas.microsoft.com/office/drawing/2014/chartex" xmlns:cx1="http://schemas.microsoft.com/office/drawing/2015/9/8/chartex" xmlns:cx2="http://schemas.microsoft.com/office/drawing/2015/10/21/chartex" xmlns:cx3="http://schemas.microsoft.com/office/drawing/2016/5/9/chartex" xmlns:cx4="http://schemas.microsoft.com/office/drawing/2016/5/10/chartex" xmlns:cx5="http://schemas.microsoft.com/office/drawing/2016/5/11/chartex" xmlns:cx6="http://schemas.microsoft.com/office/drawing/2016/5/12/chartex" xmlns:cx7="http://schemas.microsoft.com/office/drawing/2016/5/13/chartex" xmlns:cx8="http://schemas.microsoft.com/office/drawing/2016/5/14/chartex" xmlns:mc="http://schemas.openxmlformats.org/markup-compatibility/2006" xmlns:aink="http://schemas.microsoft.com/office/drawing/2016/ink" xmlns:am3d="http://schemas.microsoft.com/office/drawing/2017/model3d" xmlns:o="urn:schemas-microsoft-com:office:office" xmlns:oel="http://schemas.microsoft.com/office/2019/extlst" xmlns:m="http://schemas.openxmlformats.org/officeDocument/2006/math" xmlns:v="urn:schemas-microsoft-com:vml" xmlns:wp14="http://schemas.microsoft.com/office/word/2010/wordprocessingDrawing" xmlns:wp="http://schemas.openxmlformats.org/drawingml/2006/wordprocessingDrawing" xmlns:w10="urn:schemas-microsoft-com:office:word" xmlns:w="http://schemas.openxmlformats.org/wordprocessingml/2006/main" xmlns:w14="http://schemas.microsoft.com/office/word/2010/wordml" xmlns:w15="http://schemas.microsoft.com/office/word/2012/wordml" xmlns:w16cex="http://schemas.microsoft.com/office/word/2018/wordml/cex" xmlns:w16cid="http://schemas.microsoft.com/office/word/2016/wordml/cid" xmlns:w16="http://schemas.microsoft.com/office/word/2018/wordml" xmlns:w16sdtdh="http://schemas.microsoft.com/office/word/2020/wordml/sdtdatahash" xmlns:w16se="http://schemas.microsoft.com/office/word/2015/wordml/symex" xmlns:wpg="http://schemas.microsoft.com/office/word/2010/wordprocessingGroup" xmlns:wpi="http://schemas.microsoft.com/office/word/2010/wordprocessingInk" xmlns:wne="http://schemas.microsoft.com/office/word/2006/wordml" xmlns:wps="http://schemas.microsoft.com/office/word/2010/wordprocessingShape" xmlns:a14="http://schemas.microsoft.com/office/drawing/2010/main" xmlns:pic="http://schemas.openxmlformats.org/drawingml/2006/picture" xmlns:lc="http://schemas.openxmlformats.org/drawingml/2006/lockedCanvas" val="0"/>
              </a:ext>
            </a:extLst>
          </a:blip>
          <a:srcRect/>
          <a:stretch>
            <a:fillRect/>
          </a:stretch>
        </p:blipFill>
        <p:spPr bwMode="auto">
          <a:xfrm>
            <a:off x="1676400" y="838200"/>
            <a:ext cx="5562600" cy="5715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References</a:t>
            </a:r>
            <a:endParaRPr lang="en-US" dirty="0"/>
          </a:p>
        </p:txBody>
      </p:sp>
      <p:sp>
        <p:nvSpPr>
          <p:cNvPr id="3" name="Content Placeholder 2"/>
          <p:cNvSpPr>
            <a:spLocks noGrp="1"/>
          </p:cNvSpPr>
          <p:nvPr>
            <p:ph idx="1"/>
          </p:nvPr>
        </p:nvSpPr>
        <p:spPr/>
        <p:txBody>
          <a:bodyPr>
            <a:normAutofit lnSpcReduction="10000"/>
          </a:bodyPr>
          <a:lstStyle/>
          <a:p>
            <a:r>
              <a:rPr lang="en-US" sz="2000" dirty="0" err="1" smtClean="0"/>
              <a:t>Gopalan</a:t>
            </a:r>
            <a:r>
              <a:rPr lang="en-US" sz="2000" dirty="0" smtClean="0"/>
              <a:t> SH (2021) ZHRP-DCSEI, a novel hybrid routing protocol for mobile Ad-hoc networks to optimize energy using dynamic cuckoo search algorithm. Wireless </a:t>
            </a:r>
            <a:r>
              <a:rPr lang="en-US" sz="2000" dirty="0" err="1" smtClean="0"/>
              <a:t>PersCommun</a:t>
            </a:r>
            <a:r>
              <a:rPr lang="en-US" sz="2000" dirty="0" smtClean="0"/>
              <a:t> 118:3289–3301. https://doi.org/10.1007/s11277-021-08180-1 </a:t>
            </a:r>
            <a:endParaRPr lang="en-US" sz="2000" dirty="0" smtClean="0"/>
          </a:p>
          <a:p>
            <a:endParaRPr lang="en-US" sz="2000" dirty="0" smtClean="0"/>
          </a:p>
          <a:p>
            <a:r>
              <a:rPr lang="en-US" sz="2000" dirty="0" err="1" smtClean="0"/>
              <a:t>Vignesh</a:t>
            </a:r>
            <a:r>
              <a:rPr lang="en-US" sz="2000" dirty="0" smtClean="0"/>
              <a:t> </a:t>
            </a:r>
            <a:r>
              <a:rPr lang="en-US" sz="2000" dirty="0" smtClean="0"/>
              <a:t>V, </a:t>
            </a:r>
            <a:r>
              <a:rPr lang="en-US" sz="2000" dirty="0" err="1" smtClean="0"/>
              <a:t>Harihara</a:t>
            </a:r>
            <a:r>
              <a:rPr lang="en-US" sz="2000" dirty="0" smtClean="0"/>
              <a:t> </a:t>
            </a:r>
            <a:r>
              <a:rPr lang="en-US" sz="2000" dirty="0" err="1" smtClean="0"/>
              <a:t>Gopalan</a:t>
            </a:r>
            <a:r>
              <a:rPr lang="en-US" sz="2000" dirty="0" smtClean="0"/>
              <a:t> S, Mohan M, </a:t>
            </a:r>
            <a:r>
              <a:rPr lang="en-US" sz="2000" dirty="0" err="1" smtClean="0"/>
              <a:t>Ramya</a:t>
            </a:r>
            <a:r>
              <a:rPr lang="en-US" sz="2000" dirty="0" smtClean="0"/>
              <a:t> RS, Anan </a:t>
            </a:r>
            <a:r>
              <a:rPr lang="en-US" sz="2000" dirty="0" err="1" smtClean="0"/>
              <a:t>thakumar</a:t>
            </a:r>
            <a:r>
              <a:rPr lang="en-US" sz="2000" dirty="0" smtClean="0"/>
              <a:t> R (2021) A </a:t>
            </a:r>
            <a:r>
              <a:rPr lang="en-US" sz="2000" dirty="0" err="1" smtClean="0"/>
              <a:t>quantumbased</a:t>
            </a:r>
            <a:r>
              <a:rPr lang="en-US" sz="2000" dirty="0" smtClean="0"/>
              <a:t> </a:t>
            </a:r>
            <a:r>
              <a:rPr lang="en-US" sz="2000" dirty="0" err="1" smtClean="0"/>
              <a:t>blockchain</a:t>
            </a:r>
            <a:r>
              <a:rPr lang="en-US" sz="2000" dirty="0" smtClean="0"/>
              <a:t> approach to voting protocol using </a:t>
            </a:r>
            <a:r>
              <a:rPr lang="en-US" sz="2000" dirty="0" err="1" smtClean="0"/>
              <a:t>hyperledger</a:t>
            </a:r>
            <a:r>
              <a:rPr lang="en-US" sz="2000" dirty="0" smtClean="0"/>
              <a:t> </a:t>
            </a:r>
            <a:r>
              <a:rPr lang="en-US" sz="2000" dirty="0" err="1" smtClean="0"/>
              <a:t>sawtooth</a:t>
            </a:r>
            <a:r>
              <a:rPr lang="en-US" sz="2000" dirty="0" smtClean="0"/>
              <a:t>. J Phys: Conf Ser 1916:012088. https:// </a:t>
            </a:r>
            <a:r>
              <a:rPr lang="en-US" sz="2000" dirty="0" err="1" smtClean="0"/>
              <a:t>doi</a:t>
            </a:r>
            <a:r>
              <a:rPr lang="en-US" sz="2000" dirty="0" smtClean="0"/>
              <a:t>. org/ 10. 1088/ 1742- 6596/ 1916/1/ 012088</a:t>
            </a:r>
            <a:endParaRPr lang="en-US" sz="2000" dirty="0" smtClean="0"/>
          </a:p>
          <a:p>
            <a:endParaRPr lang="en-US" sz="2000" dirty="0" smtClean="0"/>
          </a:p>
          <a:p>
            <a:r>
              <a:rPr lang="en-US" sz="2000" dirty="0" err="1" smtClean="0"/>
              <a:t>Nilabar</a:t>
            </a:r>
            <a:r>
              <a:rPr lang="en-US" sz="2000" dirty="0" smtClean="0"/>
              <a:t> </a:t>
            </a:r>
            <a:r>
              <a:rPr lang="en-US" sz="2000" dirty="0" err="1" smtClean="0"/>
              <a:t>Nisha</a:t>
            </a:r>
            <a:r>
              <a:rPr lang="en-US" sz="2000" dirty="0" smtClean="0"/>
              <a:t> U, </a:t>
            </a:r>
            <a:r>
              <a:rPr lang="en-US" sz="2000" dirty="0" err="1" smtClean="0"/>
              <a:t>Manikandan</a:t>
            </a:r>
            <a:r>
              <a:rPr lang="en-US" sz="2000" dirty="0" smtClean="0"/>
              <a:t> A, </a:t>
            </a:r>
            <a:r>
              <a:rPr lang="en-US" sz="2000" dirty="0" err="1" smtClean="0"/>
              <a:t>Venkataramanan</a:t>
            </a:r>
            <a:r>
              <a:rPr lang="en-US" sz="2000" dirty="0" smtClean="0"/>
              <a:t> C, </a:t>
            </a:r>
            <a:r>
              <a:rPr lang="en-US" sz="2000" dirty="0" err="1" smtClean="0"/>
              <a:t>Dhanapal</a:t>
            </a:r>
            <a:r>
              <a:rPr lang="en-US" sz="2000" dirty="0" smtClean="0"/>
              <a:t> R (2023) A score based link delay aware routing protocol to improve energy optimization in wireless sensor network. J Eng Res. https:// doi.org/10.1016/j.jer.2023.100115</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latin typeface="Times New Roman" pitchFamily="18" charset="0"/>
                <a:cs typeface="Times New Roman" pitchFamily="18" charset="0"/>
              </a:rPr>
              <a:t>Conclusion</a:t>
            </a:r>
            <a:endParaRPr lang="en-US" dirty="0">
              <a:latin typeface="Times New Roman" pitchFamily="18" charset="0"/>
              <a:cs typeface="Times New Roman" pitchFamily="18" charset="0"/>
            </a:endParaRPr>
          </a:p>
        </p:txBody>
      </p:sp>
      <p:sp>
        <p:nvSpPr>
          <p:cNvPr id="3" name="Content Placeholder 2"/>
          <p:cNvSpPr>
            <a:spLocks noGrp="1"/>
          </p:cNvSpPr>
          <p:nvPr>
            <p:ph idx="1"/>
          </p:nvPr>
        </p:nvSpPr>
        <p:spPr/>
        <p:txBody>
          <a:bodyPr>
            <a:normAutofit/>
          </a:bodyPr>
          <a:lstStyle/>
          <a:p>
            <a:pPr algn="just">
              <a:buNone/>
            </a:pPr>
            <a:r>
              <a:rPr lang="en-US" sz="2000" dirty="0" smtClean="0"/>
              <a:t>		In </a:t>
            </a:r>
            <a:r>
              <a:rPr lang="en-US" sz="2000" dirty="0" smtClean="0"/>
              <a:t>conclusion, the </a:t>
            </a:r>
            <a:r>
              <a:rPr lang="en-US" sz="2000" b="1" dirty="0" err="1" smtClean="0"/>
              <a:t>Blockchain</a:t>
            </a:r>
            <a:r>
              <a:rPr lang="en-US" sz="2000" b="1" dirty="0" smtClean="0"/>
              <a:t>-Based Cloud File Sharing System</a:t>
            </a:r>
            <a:r>
              <a:rPr lang="en-US" sz="2000" dirty="0" smtClean="0"/>
              <a:t> provides a secure, transparent, and efficient solution for modern file sharing needs. By leveraging </a:t>
            </a:r>
            <a:r>
              <a:rPr lang="en-US" sz="2000" dirty="0" err="1" smtClean="0"/>
              <a:t>blockchain's</a:t>
            </a:r>
            <a:r>
              <a:rPr lang="en-US" sz="2000" dirty="0" smtClean="0"/>
              <a:t> immutability and decentralization, along with AES encryption, the system ensures data integrity, privacy, and controlled access. It effectively addresses the shortcomings of traditional cloud platforms and demonstrates the potential of combining emerging technologies to build trustworthy digital solutions.</a:t>
            </a:r>
            <a:endParaRPr lang="en-US" sz="2000" dirty="0">
              <a:latin typeface="Times New Roman" pitchFamily="18" charset="0"/>
              <a:cs typeface="Times New Roman"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304</TotalTime>
  <Words>462</Words>
  <Application>Microsoft Office PowerPoint</Application>
  <PresentationFormat>On-screen Show (4:3)</PresentationFormat>
  <Paragraphs>92</Paragraphs>
  <Slides>14</Slides>
  <Notes>0</Notes>
  <HiddenSlides>0</HiddenSlides>
  <MMClips>0</MMClips>
  <ScaleCrop>false</ScaleCrop>
  <HeadingPairs>
    <vt:vector size="4" baseType="variant">
      <vt:variant>
        <vt:lpstr>Theme</vt:lpstr>
      </vt:variant>
      <vt:variant>
        <vt:i4>1</vt:i4>
      </vt:variant>
      <vt:variant>
        <vt:lpstr>Slide Titles</vt:lpstr>
      </vt:variant>
      <vt:variant>
        <vt:i4>14</vt:i4>
      </vt:variant>
    </vt:vector>
  </HeadingPairs>
  <TitlesOfParts>
    <vt:vector size="15" baseType="lpstr">
      <vt:lpstr>Office Theme</vt:lpstr>
      <vt:lpstr>VISVESVARAYA TECHNOLOGICAL UNIVERSITY  </vt:lpstr>
      <vt:lpstr>Contents:</vt:lpstr>
      <vt:lpstr>Problem Statement  </vt:lpstr>
      <vt:lpstr>INTRODUCTION</vt:lpstr>
      <vt:lpstr>Objectives </vt:lpstr>
      <vt:lpstr> Literature Review</vt:lpstr>
      <vt:lpstr>Software  Requirement Specification</vt:lpstr>
      <vt:lpstr>Software  Requirement Specification</vt:lpstr>
      <vt:lpstr>Proposed methodology </vt:lpstr>
      <vt:lpstr>UML Diagram</vt:lpstr>
      <vt:lpstr>Sequence Diagram </vt:lpstr>
      <vt:lpstr>Sequence Diagram</vt:lpstr>
      <vt:lpstr>References</vt:lpstr>
      <vt:lpstr>Conclusion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VISVESVARAYA TECHNOLOGICAL UNIVERSITY</dc:title>
  <dc:creator>BOSS</dc:creator>
  <cp:lastModifiedBy>BOSS</cp:lastModifiedBy>
  <cp:revision>35</cp:revision>
  <dcterms:created xsi:type="dcterms:W3CDTF">2025-03-21T17:16:38Z</dcterms:created>
  <dcterms:modified xsi:type="dcterms:W3CDTF">2025-04-21T08:03:49Z</dcterms:modified>
</cp:coreProperties>
</file>